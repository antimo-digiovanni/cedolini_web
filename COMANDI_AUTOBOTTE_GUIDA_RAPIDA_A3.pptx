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987552"/>
          </a:xfrm>
          <a:prstGeom prst="rect">
            <a:avLst/>
          </a:prstGeom>
          <a:solidFill>
            <a:srgbClr val="15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8755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QUADRO AUTOBOTTE SPURGO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4"/>
                </a:solidFill>
              </a:defRPr>
            </a:pPr>
            <a:r>
              <a:t>Guida rapida ai comandi - versione A3 per stampa e affissione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41480" y="210312"/>
            <a:ext cx="2606040" cy="512064"/>
          </a:xfrm>
          <a:prstGeom prst="roundRect">
            <a:avLst/>
          </a:prstGeom>
          <a:solidFill>
            <a:srgbClr val="25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Formato A3 - pronto stampa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1426464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>
              <a:defRPr sz="1500" b="1">
                <a:solidFill>
                  <a:srgbClr val="AE2F2F"/>
                </a:solidFill>
              </a:defRPr>
            </a:pPr>
            <a:r>
              <a:t>Prima dell'uso: indossare i DPI, controllare che l'area sia libera e usare il quadro solo secondo la procedura aziendale di sicurezza.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6720840" cy="8046720"/>
          </a:xfrm>
          <a:prstGeom prst="roundRect">
            <a:avLst/>
          </a:prstGeom>
          <a:solidFill>
            <a:srgbClr val="F5F7FA"/>
          </a:solidFill>
          <a:ln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95728"/>
            <a:ext cx="6217920" cy="43634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9582912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02832"/>
                </a:solidFill>
              </a:defRPr>
            </a:pPr>
            <a:r>
              <a:t>Individua il numero nella foto del quadro e cerca la stessa voce nella legenda a destra.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11680"/>
            <a:ext cx="726948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2240280"/>
            <a:ext cx="1737360" cy="402336"/>
          </a:xfrm>
          <a:prstGeom prst="roundRect">
            <a:avLst/>
          </a:prstGeom>
          <a:solidFill>
            <a:srgbClr val="15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2798064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1. Manometro pressione aria cisterna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2. Manometro di controllo pressione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3. Manometro depressione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4. Indicatore temperatura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5. Indicatore gasolio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7. Valvola carico acqua sporca: apertura / chiusura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8. Acqua pulita Nespò: apertura / chiusura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9. Selettore pressione / invio / depressione / vuoto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10. Pompa di vuoto: alzare per caricare acqua sporca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11. Pompa di travaso: abbassare per travasare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12. Valvola sfogo schiuma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13. Accensione pompa acqua pulita Nespò</a:t>
            </a:r>
          </a:p>
          <a:p>
            <a:pPr>
              <a:spcAft>
                <a:spcPts val="300"/>
              </a:spcAft>
              <a:defRPr sz="1500">
                <a:solidFill>
                  <a:srgbClr val="202832"/>
                </a:solidFill>
              </a:defRPr>
            </a:pPr>
            <a:r>
              <a:t>14. Apertura / chiusura valvola acque sporche</a:t>
            </a:r>
          </a:p>
          <a:p>
            <a:pPr>
              <a:spcAft>
                <a:spcPts val="300"/>
              </a:spcAft>
              <a:defRPr sz="1500" b="1">
                <a:solidFill>
                  <a:srgbClr val="202832"/>
                </a:solidFill>
              </a:defRPr>
            </a:pPr>
            <a:r>
              <a:t>15-16. Avviamento e spegnimento autobotte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7388352"/>
            <a:ext cx="7269480" cy="1298448"/>
          </a:xfrm>
          <a:prstGeom prst="roundRect">
            <a:avLst/>
          </a:prstGeom>
          <a:solidFill>
            <a:srgbClr val="F5F7FA"/>
          </a:solidFill>
          <a:ln>
            <a:solidFill>
              <a:srgbClr val="D9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7571231"/>
            <a:ext cx="2103120" cy="402336"/>
          </a:xfrm>
          <a:prstGeom prst="roundRect">
            <a:avLst/>
          </a:prstGeom>
          <a:solidFill>
            <a:srgbClr val="207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COME USARLO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8101583"/>
            <a:ext cx="6419088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202832"/>
                </a:solidFill>
              </a:defRPr>
            </a:pPr>
            <a:r>
              <a:t>1. Guarda il numero vicino al comando sul quadro.</a:t>
            </a:r>
          </a:p>
          <a:p>
            <a:pPr>
              <a:spcAft>
                <a:spcPts val="200"/>
              </a:spcAft>
              <a:defRPr sz="1500">
                <a:solidFill>
                  <a:srgbClr val="202832"/>
                </a:solidFill>
              </a:defRPr>
            </a:pPr>
            <a:r>
              <a:t>2. Leggi la funzione corrispondente nella legenda.</a:t>
            </a:r>
          </a:p>
          <a:p>
            <a:pPr>
              <a:spcAft>
                <a:spcPts val="200"/>
              </a:spcAft>
              <a:defRPr sz="1500">
                <a:solidFill>
                  <a:srgbClr val="202832"/>
                </a:solidFill>
              </a:defRPr>
            </a:pPr>
            <a:r>
              <a:t>3. Esegui la manovra solo se prevista dalla procedura aziendale.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8942832"/>
            <a:ext cx="7269480" cy="1115568"/>
          </a:xfrm>
          <a:prstGeom prst="roundRect">
            <a:avLst/>
          </a:prstGeom>
          <a:solidFill>
            <a:srgbClr val="FFF8E8"/>
          </a:solidFill>
          <a:ln>
            <a:solidFill>
              <a:srgbClr val="E4B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9180576"/>
            <a:ext cx="656539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2832"/>
                </a:solidFill>
              </a:defRPr>
            </a:pPr>
            <a:r>
              <a:t>Nota importante: nella grafica originale manca il numero 6 e il numero 9 compare due volte. In caso di dubbio, fare riferimento al nome del comando e alla procedura aziendale.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